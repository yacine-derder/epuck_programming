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0"/>
  </p:notesMasterIdLst>
  <p:sldIdLst>
    <p:sldId id="268" r:id="rId2"/>
    <p:sldId id="257" r:id="rId3"/>
    <p:sldId id="264" r:id="rId4"/>
    <p:sldId id="265" r:id="rId5"/>
    <p:sldId id="269" r:id="rId6"/>
    <p:sldId id="266" r:id="rId7"/>
    <p:sldId id="263" r:id="rId8"/>
    <p:sldId id="267" r:id="rId9"/>
  </p:sldIdLst>
  <p:sldSz cx="9144000" cy="6858000" type="screen4x3"/>
  <p:notesSz cx="7315200" cy="96012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DejaVu Sans"/>
        <a:cs typeface="DejaVu San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2940" y="-137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/>
          </a:p>
        </p:txBody>
      </p:sp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/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165475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6480" tIns="48240" rIns="96480" bIns="48240" numCol="1" anchor="t" anchorCtr="0" compatLnSpc="1">
            <a:prstTxWarp prst="textNoShape">
              <a:avLst/>
            </a:prstTxWarp>
          </a:bodyPr>
          <a:lstStyle>
            <a:lvl1pPr eaLnBrk="0" hangingPunct="0">
              <a:buClr>
                <a:srgbClr val="000000"/>
              </a:buClr>
              <a:buSzPct val="100000"/>
              <a:buFont typeface="Book Antiqua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300">
                <a:solidFill>
                  <a:srgbClr val="000000"/>
                </a:solidFill>
                <a:latin typeface="Book Antiqua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4144963" y="0"/>
            <a:ext cx="3165475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6480" tIns="48240" rIns="96480" bIns="48240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Clr>
                <a:srgbClr val="000000"/>
              </a:buClr>
              <a:buSzPct val="100000"/>
              <a:buFont typeface="Book Antiqua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300">
                <a:solidFill>
                  <a:srgbClr val="000000"/>
                </a:solidFill>
                <a:latin typeface="Book Antiqua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19138"/>
            <a:ext cx="4795838" cy="35956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5" name="Rectangle 7"/>
          <p:cNvSpPr>
            <a:spLocks noGrp="1" noChangeArrowheads="1"/>
          </p:cNvSpPr>
          <p:nvPr>
            <p:ph type="body"/>
          </p:nvPr>
        </p:nvSpPr>
        <p:spPr bwMode="auto">
          <a:xfrm>
            <a:off x="974725" y="4560888"/>
            <a:ext cx="5360988" cy="4316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6480" tIns="48240" rIns="96480" bIns="4824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0" y="9120188"/>
            <a:ext cx="3165475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6480" tIns="48240" rIns="96480" bIns="48240" numCol="1" anchor="b" anchorCtr="0" compatLnSpc="1">
            <a:prstTxWarp prst="textNoShape">
              <a:avLst/>
            </a:prstTxWarp>
          </a:bodyPr>
          <a:lstStyle>
            <a:lvl1pPr eaLnBrk="0" hangingPunct="0">
              <a:buClr>
                <a:srgbClr val="000000"/>
              </a:buClr>
              <a:buSzPct val="100000"/>
              <a:buFont typeface="Book Antiqua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300">
                <a:solidFill>
                  <a:srgbClr val="000000"/>
                </a:solidFill>
                <a:latin typeface="Book Antiqua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4144963" y="9120188"/>
            <a:ext cx="3165475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6480" tIns="48240" rIns="96480" bIns="48240" numCol="1" anchor="b" anchorCtr="0" compatLnSpc="1">
            <a:prstTxWarp prst="textNoShape">
              <a:avLst/>
            </a:prstTxWarp>
          </a:bodyPr>
          <a:lstStyle>
            <a:lvl1pPr algn="r" eaLnBrk="0" hangingPunct="0">
              <a:buClr>
                <a:srgbClr val="000000"/>
              </a:buClr>
              <a:buSzPct val="100000"/>
              <a:buFont typeface="Book Antiqua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300">
                <a:solidFill>
                  <a:srgbClr val="000000"/>
                </a:solidFill>
                <a:latin typeface="Book Antiqua" pitchFamily="18" charset="0"/>
              </a:defRPr>
            </a:lvl1pPr>
          </a:lstStyle>
          <a:p>
            <a:pPr>
              <a:defRPr/>
            </a:pPr>
            <a:fld id="{F7CAC762-E6EC-4BFE-8514-C04DCD5CC0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15636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MS PGothic" pitchFamily="34" charset="-128"/>
        <a:cs typeface="ＭＳ Ｐゴシック" charset="-128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MS PGothic" pitchFamily="34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MS PGothic" pitchFamily="34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MS PGothic" pitchFamily="34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/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89843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37335B1-BD49-4F92-8911-7888C707DFC1}" type="slidenum">
              <a:rPr lang="en-US" smtClean="0"/>
              <a:pPr/>
              <a:t>2</a:t>
            </a:fld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2190812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7CA8E59-35A4-4E2D-B26E-AE2CDE77BDEA}" type="slidenum">
              <a:rPr lang="en-US" smtClean="0"/>
              <a:pPr/>
              <a:t>3</a:t>
            </a:fld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051855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8784AFD-A994-4C4F-BF0E-E50C70B7CCF9}" type="slidenum">
              <a:rPr lang="en-US" smtClean="0"/>
              <a:pPr/>
              <a:t>4</a:t>
            </a:fld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120212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AED39AC-8768-4C50-99C5-CABB932C5334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1180583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AED39AC-8768-4C50-99C5-CABB932C5334}" type="slidenum">
              <a:rPr lang="en-US" smtClean="0"/>
              <a:pPr/>
              <a:t>6</a:t>
            </a:fld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1180583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90E1023-82CA-4F06-9147-D03E40952C47}" type="slidenum">
              <a:rPr lang="en-US" smtClean="0"/>
              <a:pPr/>
              <a:t>7</a:t>
            </a:fld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1508497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78151F4-F3B8-4362-B0B7-F1778EC643AD}" type="slidenum">
              <a:rPr lang="en-US" smtClean="0"/>
              <a:pPr/>
              <a:t>8</a:t>
            </a:fld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4081686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6825" cy="4110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3808413" cy="4110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1925" y="609600"/>
            <a:ext cx="1941513" cy="54816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3725" cy="54816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7638" cy="11382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7638" cy="11382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06825" cy="41100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5025" y="1981200"/>
            <a:ext cx="3808413" cy="4110038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7638" cy="11382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6825" cy="41100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5025" y="1981200"/>
            <a:ext cx="3808413" cy="41100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67638" cy="1138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67638" cy="41100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pic>
        <p:nvPicPr>
          <p:cNvPr id="1028" name="Picture 3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6200" y="76200"/>
            <a:ext cx="990600" cy="482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29" name="Picture 6" descr="disal_logo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458200" y="-76200"/>
            <a:ext cx="7620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6" charset="0"/>
          <a:ea typeface="DejaVu Sans" charset="0"/>
          <a:cs typeface="DejaVu Sans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6" charset="0"/>
          <a:ea typeface="DejaVu Sans" charset="0"/>
          <a:cs typeface="DejaVu Sans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6" charset="0"/>
          <a:ea typeface="DejaVu Sans" charset="0"/>
          <a:cs typeface="DejaVu Sans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6" charset="0"/>
          <a:ea typeface="DejaVu Sans" charset="0"/>
          <a:cs typeface="DejaVu Sans" charset="0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DejaVu Sans" charset="0"/>
          <a:cs typeface="DejaVu Sans" charset="0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DejaVu Sans" charset="0"/>
          <a:cs typeface="DejaVu Sans" charset="0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DejaVu Sans" charset="0"/>
          <a:cs typeface="DejaVu Sans" charset="0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Times New Roman" pitchFamily="16" charset="0"/>
          <a:ea typeface="DejaVu Sans" charset="0"/>
          <a:cs typeface="DejaVu Sans" charset="0"/>
        </a:defRPr>
      </a:lvl9pPr>
    </p:titleStyle>
    <p:bodyStyle>
      <a:lvl1pPr marL="338138" indent="-338138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38188" indent="-280988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pPr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CH" b="1" dirty="0" err="1" smtClean="0"/>
              <a:t>Lab</a:t>
            </a:r>
            <a:r>
              <a:rPr lang="fr-CH" b="1" dirty="0" smtClean="0"/>
              <a:t> 3</a:t>
            </a:r>
            <a:br>
              <a:rPr lang="fr-CH" b="1" dirty="0" smtClean="0"/>
            </a:br>
            <a:r>
              <a:rPr lang="fr-CH" sz="4000" b="1" dirty="0" err="1" smtClean="0"/>
              <a:t>Distributed</a:t>
            </a:r>
            <a:r>
              <a:rPr lang="fr-CH" sz="4000" b="1" dirty="0" smtClean="0"/>
              <a:t> Intelligent </a:t>
            </a:r>
            <a:r>
              <a:rPr lang="fr-CH" sz="4000" b="1" dirty="0" err="1" smtClean="0"/>
              <a:t>Systems</a:t>
            </a:r>
            <a:r>
              <a:rPr lang="fr-CH" sz="4000" b="1" dirty="0" smtClean="0"/>
              <a:t/>
            </a:r>
            <a:br>
              <a:rPr lang="fr-CH" sz="4000" b="1" dirty="0" smtClean="0"/>
            </a:br>
            <a:r>
              <a:rPr lang="fr-CH" b="1" dirty="0" smtClean="0"/>
              <a:t> </a:t>
            </a:r>
            <a:endParaRPr lang="fr-CH" sz="3600" dirty="0" smtClean="0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indent="0" algn="ctr" eaLnBrk="1" hangingPunct="1">
              <a:lnSpc>
                <a:spcPct val="80000"/>
              </a:lnSpc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CH" dirty="0" smtClean="0"/>
              <a:t>Alexander Bahr</a:t>
            </a:r>
          </a:p>
          <a:p>
            <a:pPr marL="0" indent="0" algn="ctr" eaLnBrk="1" hangingPunct="1">
              <a:lnSpc>
                <a:spcPct val="80000"/>
              </a:lnSpc>
              <a:spcBef>
                <a:spcPts val="1350"/>
              </a:spcBef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CH" sz="5400" b="1" dirty="0" smtClean="0"/>
          </a:p>
          <a:p>
            <a:pPr marL="0" indent="0" algn="ctr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CH" sz="2400" dirty="0" smtClean="0"/>
              <a:t>11.10.2017</a:t>
            </a:r>
          </a:p>
        </p:txBody>
      </p:sp>
    </p:spTree>
    <p:extLst>
      <p:ext uri="{BB962C8B-B14F-4D97-AF65-F5344CB8AC3E}">
        <p14:creationId xmlns="" xmlns:p14="http://schemas.microsoft.com/office/powerpoint/2010/main" val="5491805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this lab is about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>
          <a:xfrm>
            <a:off x="685800" y="1524000"/>
            <a:ext cx="7767638" cy="4191000"/>
          </a:xfrm>
        </p:spPr>
        <p:txBody>
          <a:bodyPr/>
          <a:lstStyle/>
          <a:p>
            <a:r>
              <a:rPr lang="en-US" sz="2400" dirty="0" smtClean="0"/>
              <a:t>Familiarize yourself with the e-puck robot</a:t>
            </a:r>
          </a:p>
          <a:p>
            <a:pPr lvl="1"/>
            <a:r>
              <a:rPr lang="en-US" sz="2000" dirty="0" smtClean="0"/>
              <a:t>how to program the robot using the e-puck library</a:t>
            </a:r>
          </a:p>
          <a:p>
            <a:pPr lvl="1"/>
            <a:r>
              <a:rPr lang="en-US" sz="2000" dirty="0" smtClean="0"/>
              <a:t>how to transfer data to and from the robot using serial comm.</a:t>
            </a:r>
            <a:endParaRPr lang="en-US" sz="2000" i="1" dirty="0" smtClean="0"/>
          </a:p>
          <a:p>
            <a:r>
              <a:rPr lang="en-US" sz="2400" dirty="0" smtClean="0"/>
              <a:t>Basic understanding of: </a:t>
            </a:r>
          </a:p>
          <a:p>
            <a:pPr lvl="1"/>
            <a:r>
              <a:rPr lang="en-US" sz="2000" dirty="0" smtClean="0"/>
              <a:t>e-puck sensors</a:t>
            </a:r>
          </a:p>
          <a:p>
            <a:pPr lvl="1"/>
            <a:r>
              <a:rPr lang="en-US" sz="2000" dirty="0" smtClean="0"/>
              <a:t>stepper motor</a:t>
            </a:r>
          </a:p>
          <a:p>
            <a:r>
              <a:rPr lang="en-US" sz="2400" dirty="0" smtClean="0"/>
              <a:t>Implementation: Basic robot control</a:t>
            </a:r>
          </a:p>
          <a:p>
            <a:pPr lvl="1"/>
            <a:r>
              <a:rPr lang="en-US" sz="2000" dirty="0" smtClean="0"/>
              <a:t>Braitenberg</a:t>
            </a:r>
          </a:p>
          <a:p>
            <a:pPr lvl="1"/>
            <a:r>
              <a:rPr lang="en-US" sz="2000" dirty="0" smtClean="0"/>
              <a:t>Rule-based</a:t>
            </a:r>
          </a:p>
          <a:p>
            <a:r>
              <a:rPr lang="en-US" sz="2400" dirty="0" smtClean="0"/>
              <a:t>Robot Navigation:</a:t>
            </a:r>
          </a:p>
          <a:p>
            <a:pPr lvl="1"/>
            <a:r>
              <a:rPr lang="en-US" sz="2000" dirty="0" smtClean="0"/>
              <a:t>Pure odometry</a:t>
            </a:r>
          </a:p>
          <a:p>
            <a:pPr lvl="1"/>
            <a:r>
              <a:rPr lang="en-US" sz="2000" dirty="0" smtClean="0"/>
              <a:t>Feature aided odometry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 a GIT repository</a:t>
            </a:r>
          </a:p>
          <a:p>
            <a:pPr lvl="1"/>
            <a:r>
              <a:rPr lang="en-US" sz="2000" dirty="0" smtClean="0"/>
              <a:t>download files by executing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1400" dirty="0" err="1" smtClean="0"/>
              <a:t>git</a:t>
            </a:r>
            <a:r>
              <a:rPr lang="en-US" sz="1400" dirty="0" smtClean="0"/>
              <a:t> clone </a:t>
            </a:r>
            <a:r>
              <a:rPr lang="en-US" sz="1400" dirty="0"/>
              <a:t>https://</a:t>
            </a:r>
            <a:r>
              <a:rPr lang="en-US" sz="1400" dirty="0" smtClean="0"/>
              <a:t>disalgit.epfl.ch/epuck/epuck.git</a:t>
            </a:r>
          </a:p>
          <a:p>
            <a:r>
              <a:rPr lang="en-US" sz="2400" dirty="0" smtClean="0"/>
              <a:t>Content of folder </a:t>
            </a:r>
            <a:r>
              <a:rPr lang="en-US" sz="2400" dirty="0" err="1" smtClean="0"/>
              <a:t>EpuckDevelopmentTree</a:t>
            </a:r>
            <a:r>
              <a:rPr lang="en-US" sz="2400" dirty="0" smtClean="0"/>
              <a:t>/</a:t>
            </a:r>
          </a:p>
          <a:p>
            <a:pPr lvl="1"/>
            <a:r>
              <a:rPr lang="en-US" sz="2400" dirty="0" smtClean="0"/>
              <a:t>e-puck library</a:t>
            </a:r>
          </a:p>
          <a:p>
            <a:pPr lvl="1"/>
            <a:r>
              <a:rPr lang="en-US" sz="2000" dirty="0" smtClean="0"/>
              <a:t>test programs (not needed in this lab)</a:t>
            </a:r>
          </a:p>
          <a:p>
            <a:r>
              <a:rPr lang="en-US" sz="2400" dirty="0" smtClean="0"/>
              <a:t>Executables: already installed in GR B0 01 and GR C0 02</a:t>
            </a:r>
          </a:p>
          <a:p>
            <a:pPr lvl="1"/>
            <a:r>
              <a:rPr lang="en-US" sz="2000" dirty="0" err="1" smtClean="0"/>
              <a:t>epuckconnect</a:t>
            </a:r>
            <a:endParaRPr lang="en-US" sz="2000" dirty="0" smtClean="0"/>
          </a:p>
          <a:p>
            <a:pPr lvl="1"/>
            <a:r>
              <a:rPr lang="en-US" sz="2000" dirty="0" err="1" smtClean="0"/>
              <a:t>epuckupload</a:t>
            </a: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Hardware</a:t>
            </a:r>
          </a:p>
        </p:txBody>
      </p:sp>
      <p:sp>
        <p:nvSpPr>
          <p:cNvPr id="51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2400" smtClean="0"/>
              <a:t>You will receive: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1 e-puck robot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1 Battery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1 USB-Bluetooth dongle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3 walls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6 stands</a:t>
            </a:r>
          </a:p>
          <a:p>
            <a:pPr>
              <a:buFont typeface="Times New Roman" pitchFamily="18" charset="0"/>
              <a:buNone/>
            </a:pPr>
            <a:endParaRPr lang="en-US" smtClean="0"/>
          </a:p>
        </p:txBody>
      </p:sp>
      <p:pic>
        <p:nvPicPr>
          <p:cNvPr id="512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1576388"/>
            <a:ext cx="1828800" cy="1852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9" name="Picture 8" descr="20171006_10031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5818739" y="4239661"/>
            <a:ext cx="2611922" cy="1752600"/>
          </a:xfrm>
          <a:prstGeom prst="rect">
            <a:avLst/>
          </a:prstGeom>
        </p:spPr>
      </p:pic>
      <p:pic>
        <p:nvPicPr>
          <p:cNvPr id="10" name="Picture 9" descr="20171006_10032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810000" y="2362200"/>
            <a:ext cx="1905000" cy="643890"/>
          </a:xfrm>
          <a:prstGeom prst="rect">
            <a:avLst/>
          </a:prstGeom>
        </p:spPr>
      </p:pic>
      <p:pic>
        <p:nvPicPr>
          <p:cNvPr id="8" name="Picture 2" descr="commod_web"/>
          <p:cNvPicPr>
            <a:picLocks noChangeAspect="1" noChangeArrowheads="1"/>
          </p:cNvPicPr>
          <p:nvPr/>
        </p:nvPicPr>
        <p:blipFill>
          <a:blip r:embed="rId6" cstate="print"/>
          <a:srcRect l="11538" t="19231" r="3846" b="11538"/>
          <a:stretch>
            <a:fillRect/>
          </a:stretch>
        </p:blipFill>
        <p:spPr bwMode="auto">
          <a:xfrm>
            <a:off x="3352800" y="4419600"/>
            <a:ext cx="2328333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e-puck: insert battery</a:t>
            </a:r>
          </a:p>
        </p:txBody>
      </p:sp>
      <p:pic>
        <p:nvPicPr>
          <p:cNvPr id="11" name="Picture 10" descr="20171006_10241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4400" y="2743200"/>
            <a:ext cx="3175000" cy="2603500"/>
          </a:xfrm>
          <a:prstGeom prst="rect">
            <a:avLst/>
          </a:prstGeom>
        </p:spPr>
      </p:pic>
      <p:pic>
        <p:nvPicPr>
          <p:cNvPr id="12" name="Picture 11" descr="20171006_10243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05400" y="2743200"/>
            <a:ext cx="3175000" cy="260350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 bwMode="auto">
          <a:xfrm>
            <a:off x="457200" y="2057400"/>
            <a:ext cx="3962400" cy="3962400"/>
          </a:xfrm>
          <a:prstGeom prst="ellipse">
            <a:avLst/>
          </a:prstGeom>
          <a:noFill/>
          <a:ln w="1905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4953000" y="2209800"/>
            <a:ext cx="3505200" cy="3505200"/>
          </a:xfrm>
          <a:prstGeom prst="line">
            <a:avLst/>
          </a:prstGeom>
          <a:solidFill>
            <a:srgbClr val="00B8FF"/>
          </a:solidFill>
          <a:ln w="190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V="1">
            <a:off x="4953000" y="2209800"/>
            <a:ext cx="3505200" cy="3505200"/>
          </a:xfrm>
          <a:prstGeom prst="line">
            <a:avLst/>
          </a:prstGeom>
          <a:solidFill>
            <a:srgbClr val="00B8FF"/>
          </a:solidFill>
          <a:ln w="190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itle 1"/>
          <p:cNvSpPr txBox="1">
            <a:spLocks/>
          </p:cNvSpPr>
          <p:nvPr/>
        </p:nvSpPr>
        <p:spPr bwMode="auto">
          <a:xfrm>
            <a:off x="381000" y="5719762"/>
            <a:ext cx="8305800" cy="1138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If you can see the serial number it’s wrong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e-puck: Reminder</a:t>
            </a:r>
          </a:p>
        </p:txBody>
      </p:sp>
      <p:pic>
        <p:nvPicPr>
          <p:cNvPr id="6147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173288" y="2209800"/>
            <a:ext cx="3886200" cy="3808413"/>
          </a:xfrm>
          <a:noFill/>
        </p:spPr>
      </p:pic>
      <p:sp>
        <p:nvSpPr>
          <p:cNvPr id="6148" name="TextBox 4"/>
          <p:cNvSpPr txBox="1">
            <a:spLocks noChangeArrowheads="1"/>
          </p:cNvSpPr>
          <p:nvPr/>
        </p:nvSpPr>
        <p:spPr bwMode="auto">
          <a:xfrm>
            <a:off x="765175" y="2951163"/>
            <a:ext cx="1063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>
                <a:solidFill>
                  <a:schemeClr val="tx1"/>
                </a:solidFill>
              </a:rPr>
              <a:t>reset</a:t>
            </a:r>
            <a:endParaRPr lang="en-US"/>
          </a:p>
        </p:txBody>
      </p:sp>
      <p:cxnSp>
        <p:nvCxnSpPr>
          <p:cNvPr id="6149" name="Curved Connector 6"/>
          <p:cNvCxnSpPr>
            <a:cxnSpLocks noChangeShapeType="1"/>
          </p:cNvCxnSpPr>
          <p:nvPr/>
        </p:nvCxnSpPr>
        <p:spPr bwMode="auto">
          <a:xfrm flipV="1">
            <a:off x="1524000" y="2951163"/>
            <a:ext cx="1720850" cy="274637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150" name="TextBox 12"/>
          <p:cNvSpPr txBox="1">
            <a:spLocks noChangeArrowheads="1"/>
          </p:cNvSpPr>
          <p:nvPr/>
        </p:nvSpPr>
        <p:spPr bwMode="auto">
          <a:xfrm>
            <a:off x="6858000" y="4529138"/>
            <a:ext cx="21336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>
                <a:solidFill>
                  <a:schemeClr val="tx1"/>
                </a:solidFill>
              </a:rPr>
              <a:t>power</a:t>
            </a:r>
          </a:p>
          <a:p>
            <a:pPr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1600">
                <a:solidFill>
                  <a:schemeClr val="tx1"/>
                </a:solidFill>
              </a:rPr>
              <a:t>(behind right wheel)</a:t>
            </a:r>
            <a:endParaRPr lang="en-US"/>
          </a:p>
        </p:txBody>
      </p:sp>
      <p:cxnSp>
        <p:nvCxnSpPr>
          <p:cNvPr id="6151" name="Curved Connector 14"/>
          <p:cNvCxnSpPr>
            <a:cxnSpLocks noChangeShapeType="1"/>
            <a:stCxn id="6150" idx="1"/>
          </p:cNvCxnSpPr>
          <p:nvPr/>
        </p:nvCxnSpPr>
        <p:spPr bwMode="auto">
          <a:xfrm rot="10800000">
            <a:off x="5715000" y="3929063"/>
            <a:ext cx="1143000" cy="954087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152" name="TextBox 17"/>
          <p:cNvSpPr txBox="1">
            <a:spLocks noChangeArrowheads="1"/>
          </p:cNvSpPr>
          <p:nvPr/>
        </p:nvSpPr>
        <p:spPr bwMode="auto">
          <a:xfrm>
            <a:off x="533400" y="1600200"/>
            <a:ext cx="55610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>
                <a:solidFill>
                  <a:schemeClr val="tx1"/>
                </a:solidFill>
              </a:rPr>
              <a:t>You will need to use 2 buttons on the robot:</a:t>
            </a:r>
          </a:p>
        </p:txBody>
      </p:sp>
      <p:sp>
        <p:nvSpPr>
          <p:cNvPr id="6153" name="TextBox 17"/>
          <p:cNvSpPr txBox="1">
            <a:spLocks noChangeArrowheads="1"/>
          </p:cNvSpPr>
          <p:nvPr/>
        </p:nvSpPr>
        <p:spPr bwMode="auto">
          <a:xfrm>
            <a:off x="762000" y="6248400"/>
            <a:ext cx="80184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>
                <a:solidFill>
                  <a:schemeClr val="tx1"/>
                </a:solidFill>
              </a:rPr>
              <a:t>Also: watch for the power (green) and the low-power LED (red)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Programming an e-puck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4495800"/>
          </a:xfrm>
        </p:spPr>
        <p:txBody>
          <a:bodyPr/>
          <a:lstStyle/>
          <a:p>
            <a:r>
              <a:rPr lang="en-US" sz="2400" dirty="0" smtClean="0"/>
              <a:t>Turn on robot, plug USB dongle into computer</a:t>
            </a:r>
          </a:p>
          <a:p>
            <a:r>
              <a:rPr lang="en-US" sz="2400" dirty="0" smtClean="0"/>
              <a:t>Upload program abc.hex</a:t>
            </a:r>
            <a:br>
              <a:rPr lang="en-US" sz="2400" dirty="0" smtClean="0"/>
            </a:b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epuckupload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-f abc.hex 123</a:t>
            </a:r>
          </a:p>
          <a:p>
            <a:r>
              <a:rPr lang="en-US" sz="2400" dirty="0" smtClean="0"/>
              <a:t>Remember:</a:t>
            </a:r>
            <a:br>
              <a:rPr lang="en-US" sz="2400" dirty="0" smtClean="0"/>
            </a:br>
            <a:r>
              <a:rPr lang="en-US" sz="2400" dirty="0" smtClean="0">
                <a:solidFill>
                  <a:srgbClr val="FF0000"/>
                </a:solidFill>
              </a:rPr>
              <a:t>Before compiling a C file (</a:t>
            </a:r>
            <a:r>
              <a:rPr lang="en-US" sz="2400" dirty="0" err="1" smtClean="0">
                <a:solidFill>
                  <a:srgbClr val="FF0000"/>
                </a:solidFill>
              </a:rPr>
              <a:t>abc.c</a:t>
            </a:r>
            <a:r>
              <a:rPr lang="en-US" sz="2400" dirty="0" smtClean="0">
                <a:solidFill>
                  <a:srgbClr val="FF0000"/>
                </a:solidFill>
              </a:rPr>
              <a:t>), edit your </a:t>
            </a:r>
            <a:r>
              <a:rPr lang="en-US" sz="2400" dirty="0" err="1" smtClean="0">
                <a:solidFill>
                  <a:srgbClr val="FF0000"/>
                </a:solidFill>
              </a:rPr>
              <a:t>Makefile</a:t>
            </a:r>
            <a:r>
              <a:rPr lang="en-US" sz="2400" dirty="0" smtClean="0">
                <a:solidFill>
                  <a:srgbClr val="FF0000"/>
                </a:solidFill>
              </a:rPr>
              <a:t>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EPUCKLIBROOT=/home/user/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mydocs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epuck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EpuckDevelopmentTree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/library</a:t>
            </a:r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800" dirty="0" smtClean="0">
              <a:latin typeface="Courier" pitchFamily="49" charset="0"/>
            </a:endParaRPr>
          </a:p>
          <a:p>
            <a:pPr>
              <a:buFont typeface="Times New Roman" pitchFamily="18" charset="0"/>
              <a:buNone/>
            </a:pPr>
            <a:endParaRPr lang="en-US" sz="1800" dirty="0" smtClean="0">
              <a:latin typeface="Courier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Bluetooth issues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3048000"/>
          </a:xfrm>
        </p:spPr>
        <p:txBody>
          <a:bodyPr/>
          <a:lstStyle/>
          <a:p>
            <a:pPr>
              <a:buFont typeface="Times New Roman" pitchFamily="18" charset="0"/>
              <a:buNone/>
            </a:pPr>
            <a:r>
              <a:rPr lang="en-US" sz="2400" dirty="0" smtClean="0"/>
              <a:t>If you are having problems connecting and/or uploading code, do the following:</a:t>
            </a:r>
          </a:p>
          <a:p>
            <a:pPr lvl="1"/>
            <a:r>
              <a:rPr lang="en-US" sz="2000" dirty="0" smtClean="0"/>
              <a:t>Unplug the USB-Bluetooth dongle</a:t>
            </a:r>
          </a:p>
          <a:p>
            <a:pPr lvl="1"/>
            <a:r>
              <a:rPr lang="en-US" sz="2000" dirty="0" smtClean="0"/>
              <a:t>Plug in the USB-Bluetooth dongle</a:t>
            </a:r>
          </a:p>
          <a:p>
            <a:pPr lvl="1"/>
            <a:r>
              <a:rPr lang="en-US" sz="2000" dirty="0" smtClean="0"/>
              <a:t>Left click on the Bluetooth icon on the top right screen</a:t>
            </a:r>
          </a:p>
          <a:p>
            <a:pPr lvl="2"/>
            <a:r>
              <a:rPr lang="en-US" sz="1800" dirty="0" smtClean="0"/>
              <a:t>Disable</a:t>
            </a:r>
          </a:p>
          <a:p>
            <a:pPr lvl="2"/>
            <a:r>
              <a:rPr lang="en-US" sz="1800" dirty="0" smtClean="0"/>
              <a:t>Enable</a:t>
            </a:r>
          </a:p>
          <a:p>
            <a:pPr lvl="2">
              <a:buFont typeface="Times New Roman" pitchFamily="18" charset="0"/>
              <a:buNone/>
            </a:pPr>
            <a:endParaRPr lang="en-US" sz="2000" dirty="0" smtClean="0"/>
          </a:p>
          <a:p>
            <a:endParaRPr lang="en-US" sz="1800" dirty="0" smtClean="0">
              <a:latin typeface="Courier" pitchFamily="49" charset="0"/>
            </a:endParaRPr>
          </a:p>
          <a:p>
            <a:pPr>
              <a:buFont typeface="Times New Roman" pitchFamily="18" charset="0"/>
              <a:buNone/>
            </a:pPr>
            <a:endParaRPr lang="en-US" sz="1800" dirty="0" smtClean="0">
              <a:latin typeface="Courier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5334000"/>
            <a:ext cx="8458200" cy="1219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338138" indent="-338138" eaLnBrk="0" hangingPunct="0">
              <a:spcBef>
                <a:spcPts val="800"/>
              </a:spcBef>
              <a:buClr>
                <a:srgbClr val="000000"/>
              </a:buClr>
              <a:buSzPct val="100000"/>
            </a:pPr>
            <a:r>
              <a:rPr lang="en-US" kern="0" dirty="0" smtClean="0">
                <a:solidFill>
                  <a:srgbClr val="000000"/>
                </a:solidFill>
              </a:rPr>
              <a:t>You cannot upload code while the </a:t>
            </a:r>
            <a:r>
              <a:rPr lang="en-US" kern="0" dirty="0" err="1" smtClean="0">
                <a:solidFill>
                  <a:srgbClr val="000000"/>
                </a:solidFill>
              </a:rPr>
              <a:t>minicom</a:t>
            </a:r>
            <a:r>
              <a:rPr lang="en-US" kern="0" dirty="0" smtClean="0">
                <a:solidFill>
                  <a:srgbClr val="000000"/>
                </a:solidFill>
              </a:rPr>
              <a:t> is used!</a:t>
            </a:r>
          </a:p>
          <a:p>
            <a:pPr marL="338138" marR="0" lvl="0" indent="-338138" algn="l" defTabSz="4572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" pitchFamily="49" charset="0"/>
              <a:ea typeface="+mn-ea"/>
              <a:cs typeface="+mn-cs"/>
            </a:endParaRPr>
          </a:p>
          <a:p>
            <a:pPr marL="338138" marR="0" lvl="0" indent="-338138" algn="l" defTabSz="4572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" pitchFamily="49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DejaVu Sans"/>
        <a:cs typeface="DejaVu Sans"/>
      </a:majorFont>
      <a:minorFont>
        <a:latin typeface="Times New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2973</TotalTime>
  <Words>207</Words>
  <Application>Microsoft Office PowerPoint</Application>
  <PresentationFormat>On-screen Show (4:3)</PresentationFormat>
  <Paragraphs>61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Lab 3 Distributed Intelligent Systems  </vt:lpstr>
      <vt:lpstr>What this lab is about</vt:lpstr>
      <vt:lpstr>Software</vt:lpstr>
      <vt:lpstr>Hardware</vt:lpstr>
      <vt:lpstr>e-puck: insert battery</vt:lpstr>
      <vt:lpstr>e-puck: Reminder</vt:lpstr>
      <vt:lpstr>Programming an e-puck</vt:lpstr>
      <vt:lpstr>Bluetooth issues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Haghighat Bahar</dc:creator>
  <cp:lastModifiedBy> Alexander Bahr</cp:lastModifiedBy>
  <cp:revision>266</cp:revision>
  <dcterms:created xsi:type="dcterms:W3CDTF">2009-03-10T20:55:43Z</dcterms:created>
  <dcterms:modified xsi:type="dcterms:W3CDTF">2017-10-24T09:36:26Z</dcterms:modified>
</cp:coreProperties>
</file>